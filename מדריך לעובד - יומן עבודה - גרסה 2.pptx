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E9F2EC"/>
                </a:solidFill>
                <a:latin typeface="Segoe UI"/>
              </a:rPr>
              <a:t>Agro</a:t>
            </a:r>
            <a:r>
              <a:rPr sz="3000" b="1">
                <a:solidFill>
                  <a:srgbClr val="3AAA35"/>
                </a:solidFill>
                <a:latin typeface="Segoe UI"/>
              </a:rPr>
              <a:t>top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3AAA35"/>
                </a:solidFill>
                <a:latin typeface="Segoe UI"/>
              </a:rPr>
              <a:t>מדריך לעובד · מערכת יומן העבודה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5400" b="1">
                <a:solidFill>
                  <a:srgbClr val="E9F2EC"/>
                </a:solidFill>
                <a:latin typeface="Segoe UI"/>
              </a:rPr>
              <a:t>כל הניהול </a:t>
            </a:r>
            <a:r>
              <a:rPr sz="5400" b="1">
                <a:solidFill>
                  <a:srgbClr val="3AAA35"/>
                </a:solidFill>
                <a:latin typeface="Segoe UI"/>
              </a:rPr>
              <a:t>במקום אחד.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96AB9E"/>
                </a:solidFill>
                <a:latin typeface="Segoe UI"/>
              </a:rPr>
              <a:t>לא עוד מיילים מבולבלים. לא עוד חיפוש לא נוח בין קבצים וקבוצות.
תיעוד השטח, בקרת האיכות, המשימות וההודעות — תחת מעטפת אחת: קלה לתפעול, נוחה לניהול, זמינה מכל טלפון.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95360" y="5120640"/>
            <a:ext cx="2651760" cy="502920"/>
          </a:xfrm>
          <a:prstGeom prst="roundRect">
            <a:avLst>
              <a:gd name="adj" fmla="val 50000"/>
            </a:avLst>
          </a:prstGeom>
          <a:solidFill>
            <a:srgbClr val="143024"/>
          </a:solidFill>
          <a:ln w="12700">
            <a:solidFill>
              <a:srgbClr val="2A4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 rtl="1"/>
            <a:r>
              <a:rPr sz="1400" b="1">
                <a:solidFill>
                  <a:srgbClr val="E9F2EC"/>
                </a:solidFill>
                <a:latin typeface="Segoe UI"/>
              </a:rPr>
              <a:t>📱 עובד מהנייד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5120640"/>
            <a:ext cx="2651760" cy="502920"/>
          </a:xfrm>
          <a:prstGeom prst="roundRect">
            <a:avLst>
              <a:gd name="adj" fmla="val 50000"/>
            </a:avLst>
          </a:prstGeom>
          <a:solidFill>
            <a:srgbClr val="143024"/>
          </a:solidFill>
          <a:ln w="12700">
            <a:solidFill>
              <a:srgbClr val="2A4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 rtl="1"/>
            <a:r>
              <a:rPr sz="1400" b="1">
                <a:solidFill>
                  <a:srgbClr val="E9F2EC"/>
                </a:solidFill>
                <a:latin typeface="Segoe UI"/>
              </a:rPr>
              <a:t>📴 גם בלי קליטה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5120640"/>
            <a:ext cx="2651760" cy="502920"/>
          </a:xfrm>
          <a:prstGeom prst="roundRect">
            <a:avLst>
              <a:gd name="adj" fmla="val 50000"/>
            </a:avLst>
          </a:prstGeom>
          <a:solidFill>
            <a:srgbClr val="143024"/>
          </a:solidFill>
          <a:ln w="12700">
            <a:solidFill>
              <a:srgbClr val="2A4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 rtl="1"/>
            <a:r>
              <a:rPr sz="1400" b="1">
                <a:solidFill>
                  <a:srgbClr val="E9F2EC"/>
                </a:solidFill>
                <a:latin typeface="Segoe UI"/>
              </a:rPr>
              <a:t>✍️ חתימות דיגיטליות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F7A1B"/>
                </a:solidFill>
                <a:latin typeface="Segoe UI"/>
              </a:rPr>
              <a:t>החזון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0B1210"/>
                </a:solidFill>
                <a:latin typeface="Segoe UI"/>
              </a:rPr>
              <a:t>מה השתנה?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45920"/>
            <a:ext cx="52120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37960" y="182880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C14A15"/>
                </a:solidFill>
                <a:latin typeface="Segoe UI"/>
              </a:rPr>
              <a:t>ההתנהלות עד היום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2286000"/>
            <a:ext cx="47548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26312C"/>
                </a:solidFill>
                <a:latin typeface="Segoe UI"/>
              </a:rPr>
              <a:t>דוח יומי במייל חופשי — כל אחד בפורמט אחר</a:t>
            </a:r>
          </a:p>
          <a:p>
            <a:pPr algn="r" rtl="1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26312C"/>
                </a:solidFill>
                <a:latin typeface="Segoe UI"/>
              </a:rPr>
              <a:t>אקסל "תפיסת סיום שלב" עובר בין מפקחים בקבצים</a:t>
            </a:r>
          </a:p>
          <a:p>
            <a:pPr algn="r" rtl="1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26312C"/>
                </a:solidFill>
                <a:latin typeface="Segoe UI"/>
              </a:rPr>
              <a:t>עדכונים מתפזרים בערוצים פרטיים ואובדים</a:t>
            </a:r>
          </a:p>
          <a:p>
            <a:pPr algn="r" rtl="1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26312C"/>
                </a:solidFill>
                <a:latin typeface="Segoe UI"/>
              </a:rPr>
              <a:t>אין שקיפות: לא ברור מי עודכן ומה עדיין פתוח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2120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7A1B"/>
                </a:solidFill>
                <a:latin typeface="Segoe UI"/>
              </a:rPr>
              <a:t>ההתנהלות במערכת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47548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26312C"/>
                </a:solidFill>
                <a:latin typeface="Segoe UI"/>
              </a:rPr>
              <a:t>רשומת יומן מובנית עם תמונות — דוח נשלח בלחיצה</a:t>
            </a:r>
          </a:p>
          <a:p>
            <a:pPr algn="r" rtl="1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26312C"/>
                </a:solidFill>
                <a:latin typeface="Segoe UI"/>
              </a:rPr>
              <a:t>שערי איכות דיגיטליים עם חתימות וחוקים אוטומטיים</a:t>
            </a:r>
          </a:p>
          <a:p>
            <a:pPr algn="r" rtl="1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26312C"/>
                </a:solidFill>
                <a:latin typeface="Segoe UI"/>
              </a:rPr>
              <a:t>תקשורת פנימית עם אישורי קריאה ומעקב מלא</a:t>
            </a:r>
          </a:p>
          <a:p>
            <a:pPr algn="r" rtl="1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26312C"/>
                </a:solidFill>
                <a:latin typeface="Segoe UI"/>
              </a:rPr>
              <a:t>דשבורד, התראות ותאריכי יעד — שקוף להנהלה ולשטח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120640"/>
            <a:ext cx="1088136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AA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285232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1210"/>
                </a:solidFill>
                <a:latin typeface="Segoe UI"/>
              </a:rPr>
              <a:t>כלל הזהב: </a:t>
            </a:r>
            <a:r>
              <a:rPr sz="1600" b="0">
                <a:solidFill>
                  <a:srgbClr val="26312C"/>
                </a:solidFill>
                <a:latin typeface="Segoe UI"/>
              </a:rPr>
              <a:t>אם זה לא במערכת — זה לא קרה. כל דיווח, ליקוי והודעה נשמרים לתמיד וניתנים לחיפוש.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F7A1B"/>
                </a:solidFill>
                <a:latin typeface="Segoe UI"/>
              </a:rPr>
              <a:t>מפת המערכת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0B1210"/>
                </a:solidFill>
                <a:latin typeface="Segoe UI"/>
              </a:rPr>
              <a:t>שני עולמות, מעטפת אחת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32520" y="1600200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0" y="1737360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B1210"/>
                </a:solidFill>
                <a:latin typeface="Segoe UI"/>
              </a:rPr>
              <a:t>▤ ניהול עבודה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2121408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0000"/>
              </a:lnSpc>
              <a:spcAft>
                <a:spcPts val="600"/>
              </a:spcAft>
            </a:pPr>
            <a:r>
              <a:rPr sz="1150" b="0">
                <a:solidFill>
                  <a:srgbClr val="47554E"/>
                </a:solidFill>
                <a:latin typeface="Segoe UI"/>
              </a:rPr>
              <a:t>רשומות מהשטח, תמונות, בלת"מים, לוח שנה, חיפוש, דוחות במייל וייצוא PDF.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600200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1737360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B1210"/>
                </a:solidFill>
                <a:latin typeface="Segoe UI"/>
              </a:rPr>
              <a:t>🛡 ניהול ליקויים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121408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0000"/>
              </a:lnSpc>
              <a:spcAft>
                <a:spcPts val="600"/>
              </a:spcAft>
            </a:pPr>
            <a:r>
              <a:rPr sz="1150" b="0">
                <a:solidFill>
                  <a:srgbClr val="47554E"/>
                </a:solidFill>
                <a:latin typeface="Segoe UI"/>
              </a:rPr>
              <a:t>שערי עצירה 1–6 וטרום־יציקה, יומן ליקויים, חתימות דיגיטליות ודוח מסירה.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600200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737360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B1210"/>
                </a:solidFill>
                <a:latin typeface="Segoe UI"/>
              </a:rPr>
              <a:t>✉ הודעות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121408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0000"/>
              </a:lnSpc>
              <a:spcAft>
                <a:spcPts val="600"/>
              </a:spcAft>
            </a:pPr>
            <a:r>
              <a:rPr sz="1150" b="0">
                <a:solidFill>
                  <a:srgbClr val="47554E"/>
                </a:solidFill>
                <a:latin typeface="Segoe UI"/>
              </a:rPr>
              <a:t>תקשורת פנימית אישית וקבוצתית עם אישורי קריאה.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600200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737360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B1210"/>
                </a:solidFill>
                <a:latin typeface="Segoe UI"/>
              </a:rPr>
              <a:t>☑ משימות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121408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0000"/>
              </a:lnSpc>
              <a:spcAft>
                <a:spcPts val="600"/>
              </a:spcAft>
            </a:pPr>
            <a:r>
              <a:rPr sz="1150" b="0">
                <a:solidFill>
                  <a:srgbClr val="47554E"/>
                </a:solidFill>
                <a:latin typeface="Segoe UI"/>
              </a:rPr>
              <a:t>עבודות לביצוע עם אחראי ותאריך יעד — מסונכרנות ללוח השנה ולהתראות.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54096" y="3557016"/>
            <a:ext cx="6053328" cy="43774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mo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3611880"/>
            <a:ext cx="5943600" cy="399335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108960" y="7623524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7554E"/>
                </a:solidFill>
                <a:latin typeface="Segoe UI"/>
              </a:rPr>
              <a:t>מסך הבחירה לאחר ההתחברות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F7A1B"/>
                </a:solidFill>
                <a:latin typeface="Segoe UI"/>
              </a:rPr>
              <a:t>מתחילים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0B1210"/>
                </a:solidFill>
                <a:latin typeface="Segoe UI"/>
              </a:rPr>
              <a:t>כניסה, התקנה והגדרה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4183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104120" y="2084832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3AAA35"/>
          </a:solidFill>
          <a:ln w="12700">
            <a:solidFill>
              <a:srgbClr val="3AA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975104"/>
            <a:ext cx="8321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0000"/>
              </a:lnSpc>
              <a:spcAft>
                <a:spcPts val="600"/>
              </a:spcAft>
            </a:pPr>
            <a:r>
              <a:rPr sz="1600" b="1">
                <a:solidFill>
                  <a:srgbClr val="0B1210"/>
                </a:solidFill>
                <a:latin typeface="Segoe UI"/>
              </a:rPr>
              <a:t>התחברות — </a:t>
            </a:r>
            <a:r>
              <a:rPr sz="1600" b="0">
                <a:solidFill>
                  <a:srgbClr val="26312C"/>
                </a:solidFill>
                <a:latin typeface="Segoe UI"/>
              </a:rPr>
              <a:t>בכתובת המערכת, עם המייל הארגוני. בכניסה ראשונה: "הרשמה וקביעת סיסמה".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063240"/>
            <a:ext cx="94183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104120" y="3319272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3AAA35"/>
          </a:solidFill>
          <a:ln w="12700">
            <a:solidFill>
              <a:srgbClr val="3AA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09544"/>
            <a:ext cx="8321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0000"/>
              </a:lnSpc>
              <a:spcAft>
                <a:spcPts val="600"/>
              </a:spcAft>
            </a:pPr>
            <a:r>
              <a:rPr sz="1600" b="1">
                <a:solidFill>
                  <a:srgbClr val="0B1210"/>
                </a:solidFill>
                <a:latin typeface="Segoe UI"/>
              </a:rPr>
              <a:t>התקנה בנייד — </a:t>
            </a:r>
            <a:r>
              <a:rPr sz="1600" b="0">
                <a:solidFill>
                  <a:srgbClr val="26312C"/>
                </a:solidFill>
                <a:latin typeface="Segoe UI"/>
              </a:rPr>
              <a:t>תפריט הדפדפן ← "הוסף למסך הבית". המערכת פועלת כאפליקציה מלאה.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297680"/>
            <a:ext cx="94183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104120" y="4553712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3AAA35"/>
          </a:solidFill>
          <a:ln w="12700">
            <a:solidFill>
              <a:srgbClr val="3AA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443984"/>
            <a:ext cx="8321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0000"/>
              </a:lnSpc>
              <a:spcAft>
                <a:spcPts val="600"/>
              </a:spcAft>
            </a:pPr>
            <a:r>
              <a:rPr sz="1600" b="1">
                <a:solidFill>
                  <a:srgbClr val="0B1210"/>
                </a:solidFill>
                <a:latin typeface="Segoe UI"/>
              </a:rPr>
              <a:t>הפעלת התראות — </a:t>
            </a:r>
            <a:r>
              <a:rPr sz="1600" b="0">
                <a:solidFill>
                  <a:srgbClr val="26312C"/>
                </a:solidFill>
                <a:latin typeface="Segoe UI"/>
              </a:rPr>
              <a:t>תפריט המשתמש ← "הפעלת התראות בנייד". עדכונים מתקבלים גם כשהאפליקציה סגורה.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F7A1B"/>
                </a:solidFill>
                <a:latin typeface="Segoe UI"/>
              </a:rPr>
              <a:t>ניהול עבודה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B1210"/>
                </a:solidFill>
                <a:latin typeface="Segoe UI"/>
              </a:rPr>
              <a:t>▤ רשומת יומן — הדיווח היומי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60920" y="1691640"/>
            <a:ext cx="41605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0B1210"/>
                </a:solidFill>
                <a:latin typeface="Segoe UI"/>
              </a:rPr>
              <a:t>מה מדווחים — </a:t>
            </a:r>
            <a:r>
              <a:rPr sz="1400" b="0">
                <a:solidFill>
                  <a:srgbClr val="26312C"/>
                </a:solidFill>
                <a:latin typeface="Segoe UI"/>
              </a:rPr>
              <a:t>תיאור העבודה, מיקום, מזג אוויר, כמות עובדים, התקדמות, חוסרי חומרים ובלת"מים.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0B1210"/>
                </a:solidFill>
                <a:latin typeface="Segoe UI"/>
              </a:rPr>
              <a:t>תיעוד צילומי — </a:t>
            </a:r>
            <a:r>
              <a:rPr sz="1400" b="0">
                <a:solidFill>
                  <a:srgbClr val="26312C"/>
                </a:solidFill>
                <a:latin typeface="Segoe UI"/>
              </a:rPr>
              <a:t>צילום ישירות מהטופס — אסמכתא לביצוע, מצורף לדוח.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0B1210"/>
                </a:solidFill>
                <a:latin typeface="Segoe UI"/>
              </a:rPr>
              <a:t>שליחת דוח — </a:t>
            </a:r>
            <a:r>
              <a:rPr sz="1400" b="0">
                <a:solidFill>
                  <a:srgbClr val="26312C"/>
                </a:solidFill>
                <a:latin typeface="Segoe UI"/>
              </a:rPr>
              <a:t>מכל רשומה — דוח מעוצב במייל לנמענים, או הדפסה/העתקה.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0B1210"/>
                </a:solidFill>
                <a:latin typeface="Segoe UI"/>
              </a:rPr>
              <a:t>חשיבות — </a:t>
            </a:r>
            <a:r>
              <a:rPr sz="1400" b="0">
                <a:solidFill>
                  <a:srgbClr val="26312C"/>
                </a:solidFill>
                <a:latin typeface="Segoe UI"/>
              </a:rPr>
              <a:t>הרשומה היא המסמך הרשמי מול הלקוח וההנהלה.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" y="1682496"/>
            <a:ext cx="6693408" cy="480745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boo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7360"/>
            <a:ext cx="6583680" cy="44234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9058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7554E"/>
                </a:solidFill>
                <a:latin typeface="Segoe UI"/>
              </a:rPr>
              <a:t>מסך היומן — הרשומות מכל הפרויקטים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F7A1B"/>
                </a:solidFill>
                <a:latin typeface="Segoe UI"/>
              </a:rPr>
              <a:t>ניהול עבודה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B1210"/>
                </a:solidFill>
                <a:latin typeface="Segoe UI"/>
              </a:rPr>
              <a:t>▦ לוח שנה — הכל על ציר הזמן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60920" y="1691640"/>
            <a:ext cx="41605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0B1210"/>
                </a:solidFill>
                <a:latin typeface="Segoe UI"/>
              </a:rPr>
              <a:t>רשומות — </a:t>
            </a:r>
            <a:r>
              <a:rPr sz="1400" b="0">
                <a:solidFill>
                  <a:srgbClr val="26312C"/>
                </a:solidFill>
                <a:latin typeface="Segoe UI"/>
              </a:rPr>
              <a:t>מופיעות אוטומטית ביום שלהן, בצבע הפרויקט.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0B1210"/>
                </a:solidFill>
                <a:latin typeface="Segoe UI"/>
              </a:rPr>
              <a:t>תאריכי יעד — </a:t>
            </a:r>
            <a:r>
              <a:rPr sz="1400" b="0">
                <a:solidFill>
                  <a:srgbClr val="26312C"/>
                </a:solidFill>
                <a:latin typeface="Segoe UI"/>
              </a:rPr>
              <a:t>ליקויים, משימות וסיומי פרויקטים נוספים אוטומטית.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0B1210"/>
                </a:solidFill>
                <a:latin typeface="Segoe UI"/>
              </a:rPr>
              <a:t>חיווי צבע — </a:t>
            </a:r>
            <a:r>
              <a:rPr sz="1400" b="0">
                <a:solidFill>
                  <a:srgbClr val="26312C"/>
                </a:solidFill>
                <a:latin typeface="Segoe UI"/>
              </a:rPr>
              <a:t>צהוב — יעד מתקרב · אדום — חריגה. לחיצה מובילה לפריט.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0B1210"/>
                </a:solidFill>
                <a:latin typeface="Segoe UI"/>
              </a:rPr>
              <a:t>תצוגה אישית — </a:t>
            </a:r>
            <a:r>
              <a:rPr sz="1400" b="0">
                <a:solidFill>
                  <a:srgbClr val="26312C"/>
                </a:solidFill>
                <a:latin typeface="Segoe UI"/>
              </a:rPr>
              <a:t>כל משתמש רואה את היעדים ששויכו אליו או לפרויקטים שבאחריותו.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" y="1682496"/>
            <a:ext cx="6693408" cy="480745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lend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7360"/>
            <a:ext cx="6583680" cy="44234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9058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7554E"/>
                </a:solidFill>
                <a:latin typeface="Segoe UI"/>
              </a:rPr>
              <a:t>לוח השנה — רשומות ותאריכי יעד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F7A1B"/>
                </a:solidFill>
                <a:latin typeface="Segoe UI"/>
              </a:rPr>
              <a:t>ניהול עבודה ·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B1210"/>
                </a:solidFill>
                <a:latin typeface="Segoe UI"/>
              </a:rPr>
              <a:t>⌕ חיפוש · ⭳ ייצוא · ◷ סקירה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60920" y="1691640"/>
            <a:ext cx="41605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0B1210"/>
                </a:solidFill>
                <a:latin typeface="Segoe UI"/>
              </a:rPr>
              <a:t>חיפוש — </a:t>
            </a:r>
            <a:r>
              <a:rPr sz="1400" b="0">
                <a:solidFill>
                  <a:srgbClr val="26312C"/>
                </a:solidFill>
                <a:latin typeface="Segoe UI"/>
              </a:rPr>
              <a:t>לפי פרויקט, עובד, טווח תאריכים או טקסט חופשי.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0B1210"/>
                </a:solidFill>
                <a:latin typeface="Segoe UI"/>
              </a:rPr>
              <a:t>ייצוא — </a:t>
            </a:r>
            <a:r>
              <a:rPr sz="1400" b="0">
                <a:solidFill>
                  <a:srgbClr val="26312C"/>
                </a:solidFill>
                <a:latin typeface="Segoe UI"/>
              </a:rPr>
              <a:t>טווח תאריכים ← דוח מרוכז ← הדפסה / PDF.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0B1210"/>
                </a:solidFill>
                <a:latin typeface="Segoe UI"/>
              </a:rPr>
              <a:t>סקירה — </a:t>
            </a:r>
            <a:r>
              <a:rPr sz="1400" b="0">
                <a:solidFill>
                  <a:srgbClr val="26312C"/>
                </a:solidFill>
                <a:latin typeface="Segoe UI"/>
              </a:rPr>
              <a:t>נתונים מרוכזים והתקדמות — בכפוף להרשאת צפייה.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" y="1682496"/>
            <a:ext cx="6693408" cy="480745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7360"/>
            <a:ext cx="6583680" cy="44234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9058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7554E"/>
                </a:solidFill>
                <a:latin typeface="Segoe UI"/>
              </a:rPr>
              <a:t>דשבורד בקרת האיכות — התקדמות וליקויים בכל הלולים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F7A1B"/>
                </a:solidFill>
                <a:latin typeface="Segoe UI"/>
              </a:rPr>
              <a:t>ניהול ליקויים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B1210"/>
                </a:solidFill>
                <a:latin typeface="Segoe UI"/>
              </a:rPr>
              <a:t>🛡 תפיסת סיום שלב — עקרון השיטה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26312C"/>
                </a:solidFill>
                <a:latin typeface="Segoe UI"/>
              </a:rPr>
              <a:t>כל לול עובר שערי עצירה: לא ממשיכים לשלב הבא לפני שהשלב הנוכחי נבדק, תוקן ונחתם.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1051560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0" y="219456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F7A1B"/>
                </a:solidFill>
                <a:latin typeface="Segoe UI"/>
              </a:rPr>
              <a:t>טרום יציקה 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7406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26312C"/>
                </a:solidFill>
                <a:latin typeface="Segoe UI"/>
              </a:rPr>
              <a:t>מצעים, עוגנים, שרוולים, זיון — אין להזמין בטון לפני שהכל בוצע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24912"/>
            <a:ext cx="1051560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2770632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F7A1B"/>
                </a:solidFill>
                <a:latin typeface="Segoe UI"/>
              </a:rPr>
              <a:t>שער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70632"/>
            <a:ext cx="7406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26312C"/>
                </a:solidFill>
                <a:latin typeface="Segoe UI"/>
              </a:rPr>
              <a:t>יסודות, בטונים ורצפה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300984"/>
            <a:ext cx="1051560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3346704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F7A1B"/>
                </a:solidFill>
                <a:latin typeface="Segoe UI"/>
              </a:rPr>
              <a:t>שער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346704"/>
            <a:ext cx="7406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26312C"/>
                </a:solidFill>
                <a:latin typeface="Segoe UI"/>
              </a:rPr>
              <a:t>שלד, חיזוקי רוח וקורות רפד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877056"/>
            <a:ext cx="1051560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3922776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F7A1B"/>
                </a:solidFill>
                <a:latin typeface="Segoe UI"/>
              </a:rPr>
              <a:t>שער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922776"/>
            <a:ext cx="7406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26312C"/>
                </a:solidFill>
                <a:latin typeface="Segoe UI"/>
              </a:rPr>
              <a:t>מעטפת: קירוי, פנלים, בידוד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453128"/>
            <a:ext cx="1051560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4498848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F7A1B"/>
                </a:solidFill>
                <a:latin typeface="Segoe UI"/>
              </a:rPr>
              <a:t>שער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498848"/>
            <a:ext cx="7406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26312C"/>
                </a:solidFill>
                <a:latin typeface="Segoe UI"/>
              </a:rPr>
              <a:t>מערכות המבנה (ללא ציוד גידול)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029200"/>
            <a:ext cx="1051560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507492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F7A1B"/>
                </a:solidFill>
                <a:latin typeface="Segoe UI"/>
              </a:rPr>
              <a:t>שער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074920"/>
            <a:ext cx="7406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26312C"/>
                </a:solidFill>
                <a:latin typeface="Segoe UI"/>
              </a:rPr>
              <a:t>ציוד גידול, חשמל, בקרה והרצה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605272"/>
            <a:ext cx="1051560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5650992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F7A1B"/>
                </a:solidFill>
                <a:latin typeface="Segoe UI"/>
              </a:rPr>
              <a:t>שער 6 ✍️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650992"/>
            <a:ext cx="7406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26312C"/>
                </a:solidFill>
                <a:latin typeface="Segoe UI"/>
              </a:rPr>
              <a:t>מסירה פנימית — נפתח כששערים 1–5 חתומים ואין ליקוי מהותי פתוח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F7A1B"/>
                </a:solidFill>
                <a:latin typeface="Segoe UI"/>
              </a:rPr>
              <a:t>ניהול ליקויים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B1210"/>
                </a:solidFill>
                <a:latin typeface="Segoe UI"/>
              </a:rPr>
              <a:t>מילוי שער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60920" y="1691640"/>
            <a:ext cx="41605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0B1210"/>
                </a:solidFill>
                <a:latin typeface="Segoe UI"/>
              </a:rPr>
              <a:t>סטטוס לכל סעיף — </a:t>
            </a:r>
            <a:r>
              <a:rPr sz="1400" b="0">
                <a:solidFill>
                  <a:srgbClr val="26312C"/>
                </a:solidFill>
                <a:latin typeface="Segoe UI"/>
              </a:rPr>
              <a:t>בוצע / לא בוצע / לא רלוונטי + הערה.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0B1210"/>
                </a:solidFill>
                <a:latin typeface="Segoe UI"/>
              </a:rPr>
              <a:t>"לא בוצע" — </a:t>
            </a:r>
            <a:r>
              <a:rPr sz="1400" b="0">
                <a:solidFill>
                  <a:srgbClr val="26312C"/>
                </a:solidFill>
                <a:latin typeface="Segoe UI"/>
              </a:rPr>
              <a:t>מחייב סיווג חומרה (🔴/🟠/🟡) ונרשם אוטומטית ביומן הליקויים.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0B1210"/>
                </a:solidFill>
                <a:latin typeface="Segoe UI"/>
              </a:rPr>
              <a:t>חתימות — </a:t>
            </a:r>
            <a:r>
              <a:rPr sz="1400" b="0">
                <a:solidFill>
                  <a:srgbClr val="26312C"/>
                </a:solidFill>
                <a:latin typeface="Segoe UI"/>
              </a:rPr>
              <a:t>השלמת שער מאושרת בחתימת מנהל הביצוע והמפקח — על המסך.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0B1210"/>
                </a:solidFill>
                <a:latin typeface="Segoe UI"/>
              </a:rPr>
              <a:t>אכיפה מובנית — </a:t>
            </a:r>
            <a:r>
              <a:rPr sz="1400" b="0">
                <a:solidFill>
                  <a:srgbClr val="26312C"/>
                </a:solidFill>
                <a:latin typeface="Segoe UI"/>
              </a:rPr>
              <a:t>ליקוי 🔴 פתוח חוסם חתימה; 🟠 מחייב טופס ויתור בחתימה כפולה.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" y="1682496"/>
            <a:ext cx="6693408" cy="480745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7360"/>
            <a:ext cx="6583680" cy="44234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9058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7554E"/>
                </a:solidFill>
                <a:latin typeface="Segoe UI"/>
              </a:rPr>
              <a:t>טאב שער — סעיפים, סטטוסים וחומרה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F7A1B"/>
                </a:solidFill>
                <a:latin typeface="Segoe UI"/>
              </a:rPr>
              <a:t>ניהול ליקויים ·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B1210"/>
                </a:solidFill>
                <a:latin typeface="Segoe UI"/>
              </a:rPr>
              <a:t>יומן ליקויים — מפתיחה לסגירה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60920" y="1691640"/>
            <a:ext cx="41605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0B1210"/>
                </a:solidFill>
                <a:latin typeface="Segoe UI"/>
              </a:rPr>
              <a:t>תיעוד צילומי — </a:t>
            </a:r>
            <a:r>
              <a:rPr sz="1400" b="0">
                <a:solidFill>
                  <a:srgbClr val="26312C"/>
                </a:solidFill>
                <a:latin typeface="Segoe UI"/>
              </a:rPr>
              <a:t>צילום הליקוי והתיקון ישירות בשורה — אסמכתא לפני/אחרי.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0B1210"/>
                </a:solidFill>
                <a:latin typeface="Segoe UI"/>
              </a:rPr>
              <a:t>אחראי לתיקון — </a:t>
            </a:r>
            <a:r>
              <a:rPr sz="1400" b="0">
                <a:solidFill>
                  <a:srgbClr val="26312C"/>
                </a:solidFill>
                <a:latin typeface="Segoe UI"/>
              </a:rPr>
              <a:t>שיוך לעובד — התראה מיידית וכניסה ללוח השנה שלו.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0B1210"/>
                </a:solidFill>
                <a:latin typeface="Segoe UI"/>
              </a:rPr>
              <a:t>תאריך יעד — </a:t>
            </a:r>
            <a:r>
              <a:rPr sz="1400" b="0">
                <a:solidFill>
                  <a:srgbClr val="26312C"/>
                </a:solidFill>
                <a:latin typeface="Segoe UI"/>
              </a:rPr>
              <a:t>המערכת מתריעה בהתקרבות ליעד ובחריגה ממנו.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0B1210"/>
                </a:solidFill>
                <a:latin typeface="Segoe UI"/>
              </a:rPr>
              <a:t>דוח לול — </a:t>
            </a:r>
            <a:r>
              <a:rPr sz="1400" b="0">
                <a:solidFill>
                  <a:srgbClr val="26312C"/>
                </a:solidFill>
                <a:latin typeface="Segoe UI"/>
              </a:rPr>
              <a:t>כל השערים, החתימות והליקויים — הדפסה/PDF או העתקה למייל.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" y="1682496"/>
            <a:ext cx="6693408" cy="480745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fectlo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7360"/>
            <a:ext cx="6583680" cy="44234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9058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7554E"/>
                </a:solidFill>
                <a:latin typeface="Segoe UI"/>
              </a:rPr>
              <a:t>יומן הליקויים — מעקב מלא עד סגירה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F7A1B"/>
                </a:solidFill>
                <a:latin typeface="Segoe UI"/>
              </a:rPr>
              <a:t>תקשורת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B1210"/>
                </a:solidFill>
                <a:latin typeface="Segoe UI"/>
              </a:rPr>
              <a:t>✉ הודעות — תקשורת פנים־ארגונית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60920" y="1691640"/>
            <a:ext cx="41605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0B1210"/>
                </a:solidFill>
                <a:latin typeface="Segoe UI"/>
              </a:rPr>
              <a:t>שיחות — </a:t>
            </a:r>
            <a:r>
              <a:rPr sz="1400" b="0">
                <a:solidFill>
                  <a:srgbClr val="26312C"/>
                </a:solidFill>
                <a:latin typeface="Segoe UI"/>
              </a:rPr>
              <a:t>אישיות וקבוצתיות — לפי צוות, פרויקט או נושא.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0B1210"/>
                </a:solidFill>
                <a:latin typeface="Segoe UI"/>
              </a:rPr>
              <a:t>אישור קריאה — </a:t>
            </a:r>
            <a:r>
              <a:rPr sz="1400" b="0">
                <a:solidFill>
                  <a:srgbClr val="26312C"/>
                </a:solidFill>
                <a:latin typeface="Segoe UI"/>
              </a:rPr>
              <a:t>פתיחת שיחה מסמנת "נראה"; השולח רואה סטטוס קריאה מלא.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0B1210"/>
                </a:solidFill>
                <a:latin typeface="Segoe UI"/>
              </a:rPr>
              <a:t>תיעוד — </a:t>
            </a:r>
            <a:r>
              <a:rPr sz="1400" b="0">
                <a:solidFill>
                  <a:srgbClr val="26312C"/>
                </a:solidFill>
                <a:latin typeface="Segoe UI"/>
              </a:rPr>
              <a:t>כל התכתובת נשמרת במערכת וזמינה לחיפוש.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" y="1682496"/>
            <a:ext cx="6693408" cy="480745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ss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7360"/>
            <a:ext cx="6583680" cy="44234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9058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7554E"/>
                </a:solidFill>
                <a:latin typeface="Segoe UI"/>
              </a:rPr>
              <a:t>מסך ההודעות — שיחות ואישורי קריאה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F7A1B"/>
                </a:solidFill>
                <a:latin typeface="Segoe UI"/>
              </a:rPr>
              <a:t>ביצוע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B1210"/>
                </a:solidFill>
                <a:latin typeface="Segoe UI"/>
              </a:rPr>
              <a:t>☑ משימות — עבודות לביצוע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60920" y="1691640"/>
            <a:ext cx="41605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0B1210"/>
                </a:solidFill>
                <a:latin typeface="Segoe UI"/>
              </a:rPr>
              <a:t>יצירה — </a:t>
            </a:r>
            <a:r>
              <a:rPr sz="1400" b="0">
                <a:solidFill>
                  <a:srgbClr val="26312C"/>
                </a:solidFill>
                <a:latin typeface="Segoe UI"/>
              </a:rPr>
              <a:t>כותרת + פרויקט, אחראי ותאריך יעד לפי הצורך.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0B1210"/>
                </a:solidFill>
                <a:latin typeface="Segoe UI"/>
              </a:rPr>
              <a:t>שיוך — </a:t>
            </a:r>
            <a:r>
              <a:rPr sz="1400" b="0">
                <a:solidFill>
                  <a:srgbClr val="26312C"/>
                </a:solidFill>
                <a:latin typeface="Segoe UI"/>
              </a:rPr>
              <a:t>העובד מקבל התראה והמשימה נכנסת ללוח השנה שלו.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0B1210"/>
                </a:solidFill>
                <a:latin typeface="Segoe UI"/>
              </a:rPr>
              <a:t>מעקב — </a:t>
            </a:r>
            <a:r>
              <a:rPr sz="1400" b="0">
                <a:solidFill>
                  <a:srgbClr val="26312C"/>
                </a:solidFill>
                <a:latin typeface="Segoe UI"/>
              </a:rPr>
              <a:t>סימון ביצוע עם תיעוד; חריגה מיעד מסומנת באדום ומתריעה.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" y="1682496"/>
            <a:ext cx="6693408" cy="480745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ask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7360"/>
            <a:ext cx="6583680" cy="44234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9058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7554E"/>
                </a:solidFill>
                <a:latin typeface="Segoe UI"/>
              </a:rPr>
              <a:t>מסך המשימות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F7A1B"/>
                </a:solidFill>
                <a:latin typeface="Segoe UI"/>
              </a:rPr>
              <a:t>להישאר מעודכנים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B1210"/>
                </a:solidFill>
                <a:latin typeface="Segoe UI"/>
              </a:rPr>
              <a:t>🔔 שלוש שכבות של התראות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63840" y="1828800"/>
            <a:ext cx="34747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0" y="201168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0B1210"/>
                </a:solidFill>
                <a:latin typeface="Segoe UI"/>
              </a:rPr>
              <a:t>🔔 מרכז התראות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251460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47554E"/>
                </a:solidFill>
                <a:latin typeface="Segoe UI"/>
              </a:rPr>
              <a:t>ריכוז העדכונים שטרם נקראו: הקצאות, תזכורות יעד ועדכוני מערכת.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828800"/>
            <a:ext cx="34747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201168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0B1210"/>
                </a:solidFill>
                <a:latin typeface="Segoe UI"/>
              </a:rPr>
              <a:t>💬 חיווי מיידי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51460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47554E"/>
                </a:solidFill>
                <a:latin typeface="Segoe UI"/>
              </a:rPr>
              <a:t>הודעה נכנסת מוצגת בזמן אמת — מעבר ישיר לשיחה בלחיצה.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39" y="1828800"/>
            <a:ext cx="34747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19" y="201168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0B1210"/>
                </a:solidFill>
                <a:latin typeface="Segoe UI"/>
              </a:rPr>
              <a:t>📲 התראות לנייד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251460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47554E"/>
                </a:solidFill>
                <a:latin typeface="Segoe UI"/>
              </a:rPr>
              <a:t>לאחר הפעלה חד־פעמית — מתקבלות גם כשהמערכת סגורה.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AA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9768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B1210"/>
                </a:solidFill>
                <a:latin typeface="Segoe UI"/>
              </a:rPr>
              <a:t>בקרה אוטומטית: </a:t>
            </a:r>
            <a:r>
              <a:rPr sz="1500" b="0">
                <a:solidFill>
                  <a:srgbClr val="26312C"/>
                </a:solidFill>
                <a:latin typeface="Segoe UI"/>
              </a:rPr>
              <a:t>המערכת סורקת מדי בוקר את תאריכי היעד — ליקוי או משימה בהתקרבות ליעד או בחריגה מדווחים לאחראי באופן יזום.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F7A1B"/>
                </a:solidFill>
                <a:latin typeface="Segoe UI"/>
              </a:rPr>
              <a:t>שטח אמיתי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B1210"/>
                </a:solidFill>
                <a:latin typeface="Segoe UI"/>
              </a:rPr>
              <a:t>📴 עבודה רציפה — גם ללא קליטה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737360"/>
            <a:ext cx="94183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65376"/>
            <a:ext cx="8869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0000"/>
              </a:lnSpc>
              <a:spcAft>
                <a:spcPts val="600"/>
              </a:spcAft>
            </a:pPr>
            <a:r>
              <a:rPr sz="1600" b="1">
                <a:solidFill>
                  <a:srgbClr val="0B1210"/>
                </a:solidFill>
                <a:latin typeface="Segoe UI"/>
              </a:rPr>
              <a:t>יומן עבודה — </a:t>
            </a:r>
            <a:r>
              <a:rPr sz="1600" b="0">
                <a:solidFill>
                  <a:srgbClr val="26312C"/>
                </a:solidFill>
                <a:latin typeface="Segoe UI"/>
              </a:rPr>
              <a:t>הרשומה נשמרת במכשיר ומשודרת אוטומטית עם חזרת התקשורת.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788920"/>
            <a:ext cx="94183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916936"/>
            <a:ext cx="8869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0000"/>
              </a:lnSpc>
              <a:spcAft>
                <a:spcPts val="600"/>
              </a:spcAft>
            </a:pPr>
            <a:r>
              <a:rPr sz="1600" b="1">
                <a:solidFill>
                  <a:srgbClr val="0B1210"/>
                </a:solidFill>
                <a:latin typeface="Segoe UI"/>
              </a:rPr>
              <a:t>ניהול ליקויים — </a:t>
            </a:r>
            <a:r>
              <a:rPr sz="1600" b="0">
                <a:solidFill>
                  <a:srgbClr val="26312C"/>
                </a:solidFill>
                <a:latin typeface="Segoe UI"/>
              </a:rPr>
              <a:t>לולים שנפתחו לאחרונה זמינים לצפייה; כל עדכון נכנס לתור ומסונכרן אוטומטית.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840479"/>
            <a:ext cx="94183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968495"/>
            <a:ext cx="8869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0000"/>
              </a:lnSpc>
              <a:spcAft>
                <a:spcPts val="600"/>
              </a:spcAft>
            </a:pPr>
            <a:r>
              <a:rPr sz="1600" b="1">
                <a:solidFill>
                  <a:srgbClr val="0B1210"/>
                </a:solidFill>
                <a:latin typeface="Segoe UI"/>
              </a:rPr>
              <a:t>מחוון סנכרון — </a:t>
            </a:r>
            <a:r>
              <a:rPr sz="1600" b="0">
                <a:solidFill>
                  <a:srgbClr val="26312C"/>
                </a:solidFill>
                <a:latin typeface="Segoe UI"/>
              </a:rPr>
              <a:t>⟳ מציג עדכונים ממתינים; ● אדום מציין ניתוק.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5029200"/>
            <a:ext cx="9418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AA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5212080"/>
            <a:ext cx="8869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B1210"/>
                </a:solidFill>
                <a:latin typeface="Segoe UI"/>
              </a:rPr>
              <a:t>המלצה תפעולית: </a:t>
            </a:r>
            <a:r>
              <a:rPr sz="1500" b="0">
                <a:solidFill>
                  <a:srgbClr val="26312C"/>
                </a:solidFill>
                <a:latin typeface="Segoe UI"/>
              </a:rPr>
              <a:t>פתיחת הלול הרלוונטי בתחילת היום, בעוד יש תקשורת, מבטיחה את זמינותו במכשיר לאורך המשמרת.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F7A1B"/>
                </a:solidFill>
                <a:latin typeface="Segoe UI"/>
              </a:rPr>
              <a:t>מסכמים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B1210"/>
                </a:solidFill>
                <a:latin typeface="Segoe UI"/>
              </a:rPr>
              <a:t>שגרת העבודה היומית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105156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0" y="1691640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7A1B"/>
                </a:solidFill>
                <a:latin typeface="Segoe UI"/>
              </a:rPr>
              <a:t>תחילת יום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7680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26312C"/>
                </a:solidFill>
                <a:latin typeface="Segoe UI"/>
              </a:rPr>
              <a:t>סקירת עדכונים: התראות, הודעות נכנסות, משימות ולוח היום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13432"/>
            <a:ext cx="105156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2404872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7A1B"/>
                </a:solidFill>
                <a:latin typeface="Segoe UI"/>
              </a:rPr>
              <a:t>במהלך היום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04872"/>
            <a:ext cx="7680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26312C"/>
                </a:solidFill>
                <a:latin typeface="Segoe UI"/>
              </a:rPr>
              <a:t>עדכון סטטוס סעיפים בשער ותיעוד צילומי של ליקויים ותיקונים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26664"/>
            <a:ext cx="105156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3118104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7A1B"/>
                </a:solidFill>
                <a:latin typeface="Segoe UI"/>
              </a:rPr>
              <a:t>סיום יום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118104"/>
            <a:ext cx="7680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26312C"/>
                </a:solidFill>
                <a:latin typeface="Segoe UI"/>
              </a:rPr>
              <a:t>דיווח יומן מתועד ושליחת דוח לגורמים הרלוונטיים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739896"/>
            <a:ext cx="105156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3831336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7A1B"/>
                </a:solidFill>
                <a:latin typeface="Segoe UI"/>
              </a:rPr>
              <a:t>סיום שלב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831336"/>
            <a:ext cx="7680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26312C"/>
                </a:solidFill>
                <a:latin typeface="Segoe UI"/>
              </a:rPr>
              <a:t>השלמת שער ואישורו בחתימות מנהל הביצוע והמפקח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09160"/>
            <a:ext cx="10515600" cy="1600200"/>
          </a:xfrm>
          <a:prstGeom prst="roundRect">
            <a:avLst>
              <a:gd name="adj" fmla="val 8000"/>
            </a:avLst>
          </a:prstGeom>
          <a:solidFill>
            <a:srgbClr val="0D1F15"/>
          </a:solidFill>
          <a:ln w="12700">
            <a:solidFill>
              <a:srgbClr val="0D1F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937760"/>
            <a:ext cx="9966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E9F2EC"/>
                </a:solidFill>
                <a:latin typeface="Segoe UI"/>
              </a:rPr>
              <a:t>זהו. הכל במקום אחד.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532120"/>
            <a:ext cx="9966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6AB9E"/>
                </a:solidFill>
                <a:latin typeface="Segoe UI"/>
              </a:rPr>
              <a:t>לשאלות ותמיכה: מסך "על התוכנה" בתפריט המשתמש, או פנייה למנהל דרך מערכת ההודעות.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